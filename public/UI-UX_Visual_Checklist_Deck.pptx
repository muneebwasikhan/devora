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checklist as a visual, screenshot-only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color or copy: does the structure hold together?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Can someone tell where they are, and where else they can go?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type system carries most of a screen's personality and its readability.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Color should guide the eye on purpose, not by accident.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things people are meant to click should look like the things people are meant to click.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Forms are where visual clarity matters most — a confusing field is a stuck user.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visual element should feel intentional, not left over from a template.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Words are part of the visual design too — check them like you'd check pixels.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apps aren't always in their happiest state — the screenshot should prove it's ready for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accessibility is often visible before a single test is 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pass — the details that separate done from polished.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3479974"/>
            <a:ext cx="1605930" cy="593378"/>
          </a:xfrm>
          <a:prstGeom prst="roundRect">
            <a:avLst>
              <a:gd name="adj" fmla="val 50000"/>
            </a:avLst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57300" y="3575224"/>
            <a:ext cx="1263030" cy="4409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Reference</a:t>
            </a:r>
            <a:endParaRPr lang="en-US" sz="1950" dirty="0"/>
          </a:p>
        </p:txBody>
      </p:sp>
      <p:sp>
        <p:nvSpPr>
          <p:cNvPr id="4" name="Shape 2"/>
          <p:cNvSpPr/>
          <p:nvPr/>
        </p:nvSpPr>
        <p:spPr>
          <a:xfrm>
            <a:off x="2787030" y="3479974"/>
            <a:ext cx="3004542" cy="593378"/>
          </a:xfrm>
          <a:prstGeom prst="roundRect">
            <a:avLst>
              <a:gd name="adj" fmla="val 50000"/>
            </a:avLst>
          </a:prstGeom>
          <a:ln w="9525">
            <a:solidFill>
              <a:srgbClr val="C6713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006105" y="3584749"/>
            <a:ext cx="2656528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C67139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Single-page web apps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4492451"/>
            <a:ext cx="16093440" cy="998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1636"/>
              </a:lnSpc>
              <a:buNone/>
            </a:pPr>
            <a:r>
              <a:rPr lang="en-US" sz="7200" spc="-108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The Visual UI/UX Checklist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47750" y="5795442"/>
            <a:ext cx="765238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friendly, page-by-page reference for judging any screen purely from what's visible in a screenshot.</a:t>
            </a:r>
            <a:endParaRPr lang="en-US" sz="2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52016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4721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90266" y="952500"/>
            <a:ext cx="6060333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Layout &amp; Structure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bones of the page — before color or copy, does the structure hold together?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Clear visual hierarchy.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487895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most important element is obviously the biggest, boldest, or most contrasted.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Breathing room.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506673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Sections have enough whitespace that nothing feels cramped or glued together.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77506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spacing scale.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909"/>
            <a:ext cx="7362201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Margins and padding come from one rhythm (e.g. 8/16/24/32px), nothing randomly nudged.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977506"/>
            <a:ext cx="701722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Centered, contained content.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389909"/>
            <a:ext cx="657067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sensible max-width so lines of text don't stretch edge-to-edge.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5414739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329014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Aligned grid.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741417"/>
            <a:ext cx="5941099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Text blocks, cards and images line up to shared vertical and horizontal guides.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477375" y="5414739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22" name="Text 20"/>
          <p:cNvSpPr/>
          <p:nvPr/>
        </p:nvSpPr>
        <p:spPr>
          <a:xfrm>
            <a:off x="9801225" y="5329014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Logical reading order.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01225" y="5741417"/>
            <a:ext cx="6460456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Content flows top-to-bottom, left-to-right in the order it should be absorbed.</a:t>
            </a:r>
            <a:endParaRPr lang="en-US" sz="17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8032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323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02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6282" y="952500"/>
            <a:ext cx="7831604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Navigation &amp; Wayfinding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Can someone tell where they are, and where else they can go?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12944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Persistent primary navigation.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6757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way to get anywhere else in the app is visible without hunting.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10846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Breadcrumbs on nested pages.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571974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Deep pages show the path back up, if the app has depth.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706265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Current location indicated.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6132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active nav item or page is visually distinguished from the rest.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635984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header across screens.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59551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same nav bar appears in the same place on every page.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669823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Logo links home.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62719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brand mark sits where users expect and reads as clickable.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4312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7951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03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2562" y="952500"/>
            <a:ext cx="3812746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Typography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type system carries most of a screen's personality — and its readability.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6913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Distinct heading levels.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720193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H1/H2/H3 are visually different sizes or weights, not just slightly bigger.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Generous line height.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756541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Body text has enough vertical space to read as separate lines, not a solid block.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77506"/>
            <a:ext cx="679105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or two font families.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909"/>
            <a:ext cx="6358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Headings and body text follow a consistent pairing throughout.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977506"/>
            <a:ext cx="78689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orphaned words.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389909"/>
            <a:ext cx="73681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Headings and short paragraphs don't strand a single word on the last line.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5119018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033293"/>
            <a:ext cx="800816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Comfortable line length.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445696"/>
            <a:ext cx="749855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Paragraphs run roughly 45–75 characters per line, not stretched full-width.</a:t>
            </a:r>
            <a:endParaRPr lang="en-US" sz="1725" dirty="0"/>
          </a:p>
        </p:txBody>
      </p:sp>
      <p:sp>
        <p:nvSpPr>
          <p:cNvPr id="21" name="Shape 19"/>
          <p:cNvSpPr/>
          <p:nvPr/>
        </p:nvSpPr>
        <p:spPr>
          <a:xfrm>
            <a:off x="9477375" y="5119018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22" name="Text 20"/>
          <p:cNvSpPr/>
          <p:nvPr/>
        </p:nvSpPr>
        <p:spPr>
          <a:xfrm>
            <a:off x="9801225" y="5033293"/>
            <a:ext cx="649605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capitalization.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9801225" y="5445696"/>
            <a:ext cx="60826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Headings and labels follow one case convention throughout.</a:t>
            </a:r>
            <a:endParaRPr lang="en-US" sz="17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703362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9856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04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41612" y="952500"/>
            <a:ext cx="5307509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Color &amp; Contrast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Color should guide the eye on purpose, not by accident.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56205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Purposeful accent color.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708083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accent shows up on things that matter, not scattered everywhere.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756131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competing accents.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708014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more than one or two accent colors fight for attention on a screen.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668210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Readable text contrast.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25688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Body copy is clearly legible against its background at a glance.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78511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Inverted sections still work.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728969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Dark footers or banners keep their text legible against the darker ground.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color roles.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7059754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same color always means the same thing — red is always an error, never decoration.</a:t>
            </a:r>
            <a:endParaRPr lang="en-US" sz="17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91902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7102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05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30152" y="952500"/>
            <a:ext cx="7885465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Buttons &amp; Calls to Action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things people are meant to click should look like the things people are meant to click.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93965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clear primary action.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743440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Each screen has an obvious "main" button, visually dominant over the rest.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755959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Disabled state is obvious.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70785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disabled button reads as inactive at a glance — faded, not full-color.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742928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Secondary actions look secondary.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9565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Outline or ghost buttons read as lower priority than the filled primary.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57932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Icon and label alignment.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70970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Icon buttons keep icon and text vertically centered and evenly spaced.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607498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Adequate size and padding.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568839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Buttons look easy to click, not squeezed to fit their label.</a:t>
            </a:r>
            <a:endParaRPr lang="en-US" sz="17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9670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48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06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7920" y="952500"/>
            <a:ext cx="484568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Forms &amp; Inputs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Forms are where visual clarity matters most — a confusing field is a stuck user.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Visible labels.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766965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field has a real label, not just placeholder text that disappears on focus.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Focus state visible.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7148434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active field has a clear outline or highlight so users can track where they are.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4063231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77506"/>
            <a:ext cx="551239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Required fields marked.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909"/>
            <a:ext cx="516160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clear indicator shows which fields are mandatory.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4063231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977506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field sizing.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389909"/>
            <a:ext cx="6300111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Inputs, selects and textareas share the same height, radius and spacing rhythm.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5414739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329014"/>
            <a:ext cx="781613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Errors are unmistakable.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741417"/>
            <a:ext cx="73187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Invalid fields combine color, an icon, and a message — never color alone.</a:t>
            </a:r>
            <a:endParaRPr lang="en-US" sz="17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2675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7787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07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0925" y="952500"/>
            <a:ext cx="5057276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Imagery &amp; Icons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visual element should feel intentional, not left over from a template.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icon style.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371392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icon shares the same stroke weight, corner rounding, and visual language.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783815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Icons paired with labels.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733936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Icons that aren't universally understood carry a text label alongside them.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977506"/>
            <a:ext cx="665779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image treatment.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389909"/>
            <a:ext cx="62341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Photos share a cropping ratio and visual tone across the page.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4063231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977506"/>
            <a:ext cx="817621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Purposeful imagery.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389909"/>
            <a:ext cx="765591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image earns its place — nothing looks like unremoved placeholder art.</a:t>
            </a:r>
            <a:endParaRPr lang="en-US" sz="17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701725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9692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08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39975" y="952500"/>
            <a:ext cx="6594522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Content &amp; Microcopy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Words are part of the visual design too — check them like you'd check pixels.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04813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Accurate headings.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56632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Every heading actually describes the content beneath it.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8546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Designed empty states.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41845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screen with no data yet still has helpful copy, not a blank void.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7316897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Action-oriented button labels.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8512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Buttons read as verbs ("Save changes"), not vague nouns ("Submit").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34169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Helpful error messages.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6874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Errors explain what went wrong and what to do next, not just "Error."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voice.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7073704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tone of all copy — friendly, formal, playful — matches throughout the page.</a:t>
            </a:r>
            <a:endParaRPr lang="en-US" sz="17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89670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8487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927920" y="952500"/>
            <a:ext cx="5678396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States &amp; Feedback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Real apps aren't always in their happiest state — the screenshot should prove it's ready for the rest.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755976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Loading state exists.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707868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spinner, skeleton, or progress indicator is visible while content loads.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47198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Errors look different from normal.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60601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An error state is unmistakably distinct from the default view.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744770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Empty state is designed.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69737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Zero-data screens have their own considered layout, not a bare page.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771463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States read clearly in a still image.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72237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Hover/active styling reads as an intentional state, not a rendering glitch.</a:t>
            </a:r>
            <a:endParaRPr lang="en-US" sz="1725" dirty="0"/>
          </a:p>
        </p:txBody>
      </p:sp>
      <p:sp>
        <p:nvSpPr>
          <p:cNvPr id="18" name="Shape 16"/>
          <p:cNvSpPr/>
          <p:nvPr/>
        </p:nvSpPr>
        <p:spPr>
          <a:xfrm>
            <a:off x="1047750" y="4823296"/>
            <a:ext cx="133350" cy="133350"/>
          </a:xfrm>
          <a:prstGeom prst="ellipse">
            <a:avLst/>
          </a:prstGeom>
          <a:solidFill>
            <a:srgbClr val="C67139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4737571"/>
            <a:ext cx="81829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Success is confirmed.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1371600" y="5149974"/>
            <a:ext cx="7117699" cy="600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Completing an action gives visible feedback — a message, checkmark, or toast.</a:t>
            </a:r>
            <a:endParaRPr lang="en-US" sz="17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652016" cy="536228"/>
          </a:xfrm>
          <a:prstGeom prst="ellipse">
            <a:avLst/>
          </a:prstGeom>
          <a:solidFill>
            <a:srgbClr val="F0FAE1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347216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3D472B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10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90266" y="952500"/>
            <a:ext cx="8329203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Accessibility (Visual Cues)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Good accessibility is often visible before a single test is run.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5812066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Sufficient contrast.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544220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Text and icons are readable, not just decoratively pale.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11280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Text can scale.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572380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Layouts don't look like they'd break if font size increased.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5656213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Visible focus indicators.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52962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Keyboard focus rings are present, not stripped away.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5721452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Interactive elements look clickable.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53573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Buttons and links are visually distinct from static text.</a:t>
            </a:r>
            <a:endParaRPr lang="en-US" sz="17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A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7750" y="1004367"/>
            <a:ext cx="595685" cy="536228"/>
          </a:xfrm>
          <a:prstGeom prst="ellipse">
            <a:avLst/>
          </a:prstGeom>
          <a:solidFill>
            <a:srgbClr val="FFF2EB"/>
          </a:solidFill>
          <a:ln/>
        </p:spPr>
      </p:sp>
      <p:sp>
        <p:nvSpPr>
          <p:cNvPr id="3" name="Text 1"/>
          <p:cNvSpPr/>
          <p:nvPr/>
        </p:nvSpPr>
        <p:spPr>
          <a:xfrm>
            <a:off x="1238250" y="1080567"/>
            <a:ext cx="29088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spc="39" kern="0" dirty="0">
                <a:solidFill>
                  <a:srgbClr val="64331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11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1833935" y="952500"/>
            <a:ext cx="564860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102"/>
              </a:lnSpc>
              <a:buNone/>
            </a:pPr>
            <a:r>
              <a:rPr lang="en-US" sz="4500" spc="-67" kern="0" dirty="0">
                <a:solidFill>
                  <a:srgbClr val="201E1D"/>
                </a:solidFill>
                <a:latin typeface="Caprasimo" pitchFamily="34" charset="0"/>
                <a:ea typeface="Caprasimo" pitchFamily="34" charset="-122"/>
                <a:cs typeface="Caprasimo" pitchFamily="34" charset="-120"/>
              </a:rPr>
              <a:t>Branding &amp; Polish</a:t>
            </a:r>
            <a:endParaRPr lang="en-US" sz="4500" dirty="0"/>
          </a:p>
        </p:txBody>
      </p:sp>
      <p:sp>
        <p:nvSpPr>
          <p:cNvPr id="5" name="Text 3"/>
          <p:cNvSpPr/>
          <p:nvPr/>
        </p:nvSpPr>
        <p:spPr>
          <a:xfrm>
            <a:off x="1047750" y="1725885"/>
            <a:ext cx="1781175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dirty="0">
                <a:solidFill>
                  <a:srgbClr val="645C5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last pass — the details that separate "done" from "polished."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1047750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2625998"/>
            <a:ext cx="6516841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corner rounding.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371600" y="3038401"/>
            <a:ext cx="610213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Buttons, cards and inputs all share the same radius language.</a:t>
            </a:r>
            <a:endParaRPr lang="en-US" sz="1725" dirty="0"/>
          </a:p>
        </p:txBody>
      </p:sp>
      <p:sp>
        <p:nvSpPr>
          <p:cNvPr id="9" name="Shape 7"/>
          <p:cNvSpPr/>
          <p:nvPr/>
        </p:nvSpPr>
        <p:spPr>
          <a:xfrm>
            <a:off x="9477375" y="2711723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0" name="Text 8"/>
          <p:cNvSpPr/>
          <p:nvPr/>
        </p:nvSpPr>
        <p:spPr>
          <a:xfrm>
            <a:off x="9801225" y="2625998"/>
            <a:ext cx="6136459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leftover placeholder content.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801225" y="3038401"/>
            <a:ext cx="574595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No "Lorem ipsum," broken images, or default sample text.</a:t>
            </a:r>
            <a:endParaRPr lang="en-US" sz="1725" dirty="0"/>
          </a:p>
        </p:txBody>
      </p:sp>
      <p:sp>
        <p:nvSpPr>
          <p:cNvPr id="12" name="Shape 10"/>
          <p:cNvSpPr/>
          <p:nvPr/>
        </p:nvSpPr>
        <p:spPr>
          <a:xfrm>
            <a:off x="1047750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3" name="Text 11"/>
          <p:cNvSpPr/>
          <p:nvPr/>
        </p:nvSpPr>
        <p:spPr>
          <a:xfrm>
            <a:off x="1371600" y="3681785"/>
            <a:ext cx="8154114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Consistent shadow depth.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1371600" y="4094187"/>
            <a:ext cx="763521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Elevation — or its absence — is used the same way across similar elements.</a:t>
            </a:r>
            <a:endParaRPr lang="en-US" sz="1725" dirty="0"/>
          </a:p>
        </p:txBody>
      </p:sp>
      <p:sp>
        <p:nvSpPr>
          <p:cNvPr id="15" name="Shape 13"/>
          <p:cNvSpPr/>
          <p:nvPr/>
        </p:nvSpPr>
        <p:spPr>
          <a:xfrm>
            <a:off x="9477375" y="3767510"/>
            <a:ext cx="133350" cy="133350"/>
          </a:xfrm>
          <a:prstGeom prst="ellipse">
            <a:avLst/>
          </a:prstGeom>
          <a:solidFill>
            <a:srgbClr val="7A8A5E"/>
          </a:solidFill>
          <a:ln/>
        </p:spPr>
      </p:sp>
      <p:sp>
        <p:nvSpPr>
          <p:cNvPr id="16" name="Text 14"/>
          <p:cNvSpPr/>
          <p:nvPr/>
        </p:nvSpPr>
        <p:spPr>
          <a:xfrm>
            <a:off x="9801225" y="3681785"/>
            <a:ext cx="4798695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836"/>
              </a:lnSpc>
              <a:buNone/>
            </a:pPr>
            <a:r>
              <a:rPr lang="en-US" sz="2100" b="1" dirty="0">
                <a:solidFill>
                  <a:srgbClr val="2E2B25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Favicon and branding present.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801225" y="4094187"/>
            <a:ext cx="449332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893"/>
              </a:lnSpc>
              <a:buNone/>
            </a:pPr>
            <a:r>
              <a:rPr lang="en-US" sz="1725" dirty="0">
                <a:solidFill>
                  <a:srgbClr val="474238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tab icon and any logo marks are in place.</a:t>
            </a:r>
            <a:endParaRPr lang="en-US" sz="1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2026-07-18T07:40:38Z</dcterms:created>
  <dcterms:modified xsi:type="dcterms:W3CDTF">2026-07-18T07:40:38Z</dcterms:modified>
</cp:coreProperties>
</file>